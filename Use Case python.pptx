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Poppins Bold" charset="1" panose="00000800000000000000"/>
      <p:regular r:id="rId13"/>
    </p:embeddedFont>
    <p:embeddedFont>
      <p:font typeface="Manjari" charset="1" panose="02000503000000000000"/>
      <p:regular r:id="rId14"/>
    </p:embeddedFont>
    <p:embeddedFont>
      <p:font typeface="Manjari Bold" charset="1" panose="02000503000000000000"/>
      <p:regular r:id="rId15"/>
    </p:embeddedFont>
    <p:embeddedFont>
      <p:font typeface="Poppins" charset="1" panose="000005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png" Type="http://schemas.openxmlformats.org/officeDocument/2006/relationships/image"/><Relationship Id="rId11" Target="../media/image6.svg" Type="http://schemas.openxmlformats.org/officeDocument/2006/relationships/image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png" Type="http://schemas.openxmlformats.org/officeDocument/2006/relationships/image"/><Relationship Id="rId11" Target="../media/image6.svg" Type="http://schemas.openxmlformats.org/officeDocument/2006/relationships/image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png" Type="http://schemas.openxmlformats.org/officeDocument/2006/relationships/image"/><Relationship Id="rId11" Target="../media/image6.svg" Type="http://schemas.openxmlformats.org/officeDocument/2006/relationships/image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png" Type="http://schemas.openxmlformats.org/officeDocument/2006/relationships/image"/><Relationship Id="rId11" Target="../media/image6.svg" Type="http://schemas.openxmlformats.org/officeDocument/2006/relationships/image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28700" y="-10287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04170" y="72009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069174" y="6495562"/>
            <a:ext cx="5388429" cy="4114800"/>
          </a:xfrm>
          <a:custGeom>
            <a:avLst/>
            <a:gdLst/>
            <a:ahLst/>
            <a:cxnLst/>
            <a:rect r="r" b="b" t="t" l="l"/>
            <a:pathLst>
              <a:path h="4114800" w="5388429">
                <a:moveTo>
                  <a:pt x="0" y="0"/>
                </a:moveTo>
                <a:lnTo>
                  <a:pt x="5388429" y="0"/>
                </a:lnTo>
                <a:lnTo>
                  <a:pt x="538842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142229" y="1505438"/>
            <a:ext cx="4721647" cy="1428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60"/>
              </a:lnSpc>
            </a:pPr>
            <a:r>
              <a:rPr lang="en-US" b="true" sz="7900" u="sng">
                <a:solidFill>
                  <a:srgbClr val="1B1919"/>
                </a:solidFill>
                <a:latin typeface="Poppins Bold"/>
                <a:ea typeface="Poppins Bold"/>
                <a:cs typeface="Poppins Bold"/>
                <a:sym typeface="Poppins Bold"/>
              </a:rPr>
              <a:t>Use Case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21503" y="3652878"/>
            <a:ext cx="14447242" cy="1953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39"/>
              </a:lnSpc>
            </a:pPr>
            <a:r>
              <a:rPr lang="en-US" sz="5599">
                <a:solidFill>
                  <a:srgbClr val="1B1919"/>
                </a:solidFill>
                <a:latin typeface="Manjari"/>
                <a:ea typeface="Manjari"/>
                <a:cs typeface="Manjari"/>
                <a:sym typeface="Manjari"/>
              </a:rPr>
              <a:t>Development of Student Performance Evaluation Report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715871" y="6191968"/>
            <a:ext cx="10523413" cy="1858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1B1919"/>
                </a:solidFill>
                <a:latin typeface="Manjari Bold"/>
                <a:ea typeface="Manjari Bold"/>
                <a:cs typeface="Manjari Bold"/>
                <a:sym typeface="Manjari Bold"/>
              </a:rPr>
              <a:t>Course Name</a:t>
            </a:r>
            <a:r>
              <a:rPr lang="en-US" sz="5199">
                <a:solidFill>
                  <a:srgbClr val="1B1919"/>
                </a:solidFill>
                <a:latin typeface="Manjari"/>
                <a:ea typeface="Manjari"/>
                <a:cs typeface="Manjari"/>
                <a:sym typeface="Manjari"/>
              </a:rPr>
              <a:t>: Python Programming</a:t>
            </a:r>
          </a:p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1B1919"/>
                </a:solidFill>
                <a:latin typeface="Manjari Bold"/>
                <a:ea typeface="Manjari Bold"/>
                <a:cs typeface="Manjari Bold"/>
                <a:sym typeface="Manjari Bold"/>
              </a:rPr>
              <a:t>Course Code:</a:t>
            </a:r>
            <a:r>
              <a:rPr lang="en-US" sz="5199">
                <a:solidFill>
                  <a:srgbClr val="1B1919"/>
                </a:solidFill>
                <a:latin typeface="Manjari"/>
                <a:ea typeface="Manjari"/>
                <a:cs typeface="Manjari"/>
                <a:sym typeface="Manjari"/>
              </a:rPr>
              <a:t>10211CS213</a:t>
            </a:r>
          </a:p>
        </p:txBody>
      </p:sp>
      <p:sp>
        <p:nvSpPr>
          <p:cNvPr name="Freeform 8" id="8"/>
          <p:cNvSpPr/>
          <p:nvPr/>
        </p:nvSpPr>
        <p:spPr>
          <a:xfrm flipH="false" flipV="true" rot="0">
            <a:off x="15968745" y="-323362"/>
            <a:ext cx="5388429" cy="4114800"/>
          </a:xfrm>
          <a:custGeom>
            <a:avLst/>
            <a:gdLst/>
            <a:ahLst/>
            <a:cxnLst/>
            <a:rect r="r" b="b" t="t" l="l"/>
            <a:pathLst>
              <a:path h="4114800" w="5388429">
                <a:moveTo>
                  <a:pt x="0" y="4114800"/>
                </a:moveTo>
                <a:lnTo>
                  <a:pt x="5388429" y="4114800"/>
                </a:lnTo>
                <a:lnTo>
                  <a:pt x="5388429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96183" y="-496183"/>
            <a:ext cx="1524883" cy="152488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BFA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259300" y="-496183"/>
            <a:ext cx="1524883" cy="1524883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BFA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496183" y="9258300"/>
            <a:ext cx="1524883" cy="1524883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BFA5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7259300" y="9258300"/>
            <a:ext cx="1524883" cy="152488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BFA5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261585" y="1912534"/>
            <a:ext cx="532765" cy="532765"/>
          </a:xfrm>
          <a:custGeom>
            <a:avLst/>
            <a:gdLst/>
            <a:ahLst/>
            <a:cxnLst/>
            <a:rect r="r" b="b" t="t" l="l"/>
            <a:pathLst>
              <a:path h="532765" w="532765">
                <a:moveTo>
                  <a:pt x="0" y="0"/>
                </a:moveTo>
                <a:lnTo>
                  <a:pt x="532765" y="0"/>
                </a:lnTo>
                <a:lnTo>
                  <a:pt x="532765" y="532765"/>
                </a:lnTo>
                <a:lnTo>
                  <a:pt x="0" y="5327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987826" y="1826809"/>
            <a:ext cx="14312348" cy="6186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1B1919"/>
                </a:solidFill>
                <a:latin typeface="Poppins Bold"/>
                <a:ea typeface="Poppins Bold"/>
                <a:cs typeface="Poppins Bold"/>
                <a:sym typeface="Poppins Bold"/>
              </a:rPr>
              <a:t>Objective:</a:t>
            </a: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1B1919"/>
                </a:solidFill>
                <a:latin typeface="Poppins"/>
                <a:ea typeface="Poppins"/>
                <a:cs typeface="Poppins"/>
                <a:sym typeface="Poppins"/>
              </a:rPr>
              <a:t>To develop a Python program that automatically evaluates the performance of students by calculating their total marks, percentage, grade, and result (Pass/Fail) from the given input marks.</a:t>
            </a:r>
          </a:p>
          <a:p>
            <a:pPr algn="l">
              <a:lnSpc>
                <a:spcPts val="4480"/>
              </a:lnSpc>
            </a:pPr>
          </a:p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1B1919"/>
                </a:solidFill>
                <a:latin typeface="Poppins Bold"/>
                <a:ea typeface="Poppins Bold"/>
                <a:cs typeface="Poppins Bold"/>
                <a:sym typeface="Poppins Bold"/>
              </a:rPr>
              <a:t>Modules Used:</a:t>
            </a:r>
          </a:p>
          <a:p>
            <a:pPr algn="l" marL="690890" indent="-345445" lvl="1">
              <a:lnSpc>
                <a:spcPts val="4480"/>
              </a:lnSpc>
              <a:buAutoNum type="arabicPeriod" startAt="1"/>
            </a:pPr>
            <a:r>
              <a:rPr lang="en-US" sz="3200">
                <a:solidFill>
                  <a:srgbClr val="1B1919"/>
                </a:solidFill>
                <a:latin typeface="Poppins"/>
                <a:ea typeface="Poppins"/>
                <a:cs typeface="Poppins"/>
                <a:sym typeface="Poppins"/>
              </a:rPr>
              <a:t>pandas – for reading, processing, and saving CSV files.</a:t>
            </a:r>
          </a:p>
          <a:p>
            <a:pPr algn="l" marL="690890" indent="-345445" lvl="1">
              <a:lnSpc>
                <a:spcPts val="4480"/>
              </a:lnSpc>
              <a:buAutoNum type="arabicPeriod" startAt="1"/>
            </a:pPr>
            <a:r>
              <a:rPr lang="en-US" sz="3200">
                <a:solidFill>
                  <a:srgbClr val="1B1919"/>
                </a:solidFill>
                <a:latin typeface="Poppins"/>
                <a:ea typeface="Poppins"/>
                <a:cs typeface="Poppins"/>
                <a:sym typeface="Poppins"/>
              </a:rPr>
              <a:t>numpy – for handling numerical calculations and conditions.</a:t>
            </a:r>
          </a:p>
          <a:p>
            <a:pPr algn="l" marL="690890" indent="-345445" lvl="1">
              <a:lnSpc>
                <a:spcPts val="4480"/>
              </a:lnSpc>
              <a:buAutoNum type="arabicPeriod" startAt="1"/>
            </a:pPr>
            <a:r>
              <a:rPr lang="en-US" sz="3200">
                <a:solidFill>
                  <a:srgbClr val="1B1919"/>
                </a:solidFill>
                <a:latin typeface="Poppins"/>
                <a:ea typeface="Poppins"/>
                <a:cs typeface="Poppins"/>
                <a:sym typeface="Poppins"/>
              </a:rPr>
              <a:t>sys – for handling command-line input arguments.</a:t>
            </a:r>
          </a:p>
          <a:p>
            <a:pPr algn="l">
              <a:lnSpc>
                <a:spcPts val="4480"/>
              </a:lnSpc>
            </a:pPr>
          </a:p>
          <a:p>
            <a:pPr algn="l">
              <a:lnSpc>
                <a:spcPts val="4480"/>
              </a:lnSpc>
            </a:pP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150637" y="4696373"/>
            <a:ext cx="532765" cy="532765"/>
          </a:xfrm>
          <a:custGeom>
            <a:avLst/>
            <a:gdLst/>
            <a:ahLst/>
            <a:cxnLst/>
            <a:rect r="r" b="b" t="t" l="l"/>
            <a:pathLst>
              <a:path h="532765" w="532765">
                <a:moveTo>
                  <a:pt x="0" y="0"/>
                </a:moveTo>
                <a:lnTo>
                  <a:pt x="532765" y="0"/>
                </a:lnTo>
                <a:lnTo>
                  <a:pt x="532765" y="532766"/>
                </a:lnTo>
                <a:lnTo>
                  <a:pt x="0" y="5327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230600" y="-20574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869223" y="8417777"/>
            <a:ext cx="3738446" cy="3738446"/>
          </a:xfrm>
          <a:custGeom>
            <a:avLst/>
            <a:gdLst/>
            <a:ahLst/>
            <a:cxnLst/>
            <a:rect r="r" b="b" t="t" l="l"/>
            <a:pathLst>
              <a:path h="3738446" w="3738446">
                <a:moveTo>
                  <a:pt x="0" y="0"/>
                </a:moveTo>
                <a:lnTo>
                  <a:pt x="3738446" y="0"/>
                </a:lnTo>
                <a:lnTo>
                  <a:pt x="3738446" y="3738446"/>
                </a:lnTo>
                <a:lnTo>
                  <a:pt x="0" y="37384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9098584"/>
            <a:ext cx="2385506" cy="2376832"/>
          </a:xfrm>
          <a:custGeom>
            <a:avLst/>
            <a:gdLst/>
            <a:ahLst/>
            <a:cxnLst/>
            <a:rect r="r" b="b" t="t" l="l"/>
            <a:pathLst>
              <a:path h="2376832" w="2385506">
                <a:moveTo>
                  <a:pt x="0" y="0"/>
                </a:moveTo>
                <a:lnTo>
                  <a:pt x="2385506" y="0"/>
                </a:lnTo>
                <a:lnTo>
                  <a:pt x="2385506" y="2376832"/>
                </a:lnTo>
                <a:lnTo>
                  <a:pt x="0" y="23768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14873794" y="-1348132"/>
            <a:ext cx="2385506" cy="2376832"/>
          </a:xfrm>
          <a:custGeom>
            <a:avLst/>
            <a:gdLst/>
            <a:ahLst/>
            <a:cxnLst/>
            <a:rect r="r" b="b" t="t" l="l"/>
            <a:pathLst>
              <a:path h="2376832" w="2385506">
                <a:moveTo>
                  <a:pt x="0" y="2376832"/>
                </a:moveTo>
                <a:lnTo>
                  <a:pt x="2385506" y="2376832"/>
                </a:lnTo>
                <a:lnTo>
                  <a:pt x="2385506" y="0"/>
                </a:lnTo>
                <a:lnTo>
                  <a:pt x="0" y="0"/>
                </a:lnTo>
                <a:lnTo>
                  <a:pt x="0" y="23768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700000">
            <a:off x="16466659" y="8512647"/>
            <a:ext cx="1516114" cy="1491305"/>
          </a:xfrm>
          <a:custGeom>
            <a:avLst/>
            <a:gdLst/>
            <a:ahLst/>
            <a:cxnLst/>
            <a:rect r="r" b="b" t="t" l="l"/>
            <a:pathLst>
              <a:path h="1491305" w="1516114">
                <a:moveTo>
                  <a:pt x="0" y="0"/>
                </a:moveTo>
                <a:lnTo>
                  <a:pt x="1516115" y="0"/>
                </a:lnTo>
                <a:lnTo>
                  <a:pt x="1516115" y="1491306"/>
                </a:lnTo>
                <a:lnTo>
                  <a:pt x="0" y="14913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2700000">
            <a:off x="270643" y="283047"/>
            <a:ext cx="1516114" cy="1491305"/>
          </a:xfrm>
          <a:custGeom>
            <a:avLst/>
            <a:gdLst/>
            <a:ahLst/>
            <a:cxnLst/>
            <a:rect r="r" b="b" t="t" l="l"/>
            <a:pathLst>
              <a:path h="1491305" w="1516114">
                <a:moveTo>
                  <a:pt x="0" y="0"/>
                </a:moveTo>
                <a:lnTo>
                  <a:pt x="1516114" y="0"/>
                </a:lnTo>
                <a:lnTo>
                  <a:pt x="1516114" y="1491306"/>
                </a:lnTo>
                <a:lnTo>
                  <a:pt x="0" y="14913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319426" y="9951733"/>
            <a:ext cx="3879747" cy="3047365"/>
          </a:xfrm>
          <a:custGeom>
            <a:avLst/>
            <a:gdLst/>
            <a:ahLst/>
            <a:cxnLst/>
            <a:rect r="r" b="b" t="t" l="l"/>
            <a:pathLst>
              <a:path h="3047365" w="3879747">
                <a:moveTo>
                  <a:pt x="0" y="0"/>
                </a:moveTo>
                <a:lnTo>
                  <a:pt x="3879748" y="0"/>
                </a:lnTo>
                <a:lnTo>
                  <a:pt x="3879748" y="3047365"/>
                </a:lnTo>
                <a:lnTo>
                  <a:pt x="0" y="304736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0">
            <a:off x="-911174" y="-2692541"/>
            <a:ext cx="3879747" cy="3047365"/>
          </a:xfrm>
          <a:custGeom>
            <a:avLst/>
            <a:gdLst/>
            <a:ahLst/>
            <a:cxnLst/>
            <a:rect r="r" b="b" t="t" l="l"/>
            <a:pathLst>
              <a:path h="3047365" w="3879747">
                <a:moveTo>
                  <a:pt x="3879748" y="3047365"/>
                </a:moveTo>
                <a:lnTo>
                  <a:pt x="0" y="3047365"/>
                </a:lnTo>
                <a:lnTo>
                  <a:pt x="0" y="0"/>
                </a:lnTo>
                <a:lnTo>
                  <a:pt x="3879748" y="0"/>
                </a:lnTo>
                <a:lnTo>
                  <a:pt x="3879748" y="3047365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497579" y="3745206"/>
            <a:ext cx="14663854" cy="3481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1B1919"/>
                </a:solidFill>
                <a:latin typeface="Poppins"/>
                <a:ea typeface="Poppins"/>
                <a:cs typeface="Poppins"/>
                <a:sym typeface="Poppins"/>
              </a:rPr>
              <a:t>Reads student data and marks from a CSV file.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1B1919"/>
                </a:solidFill>
                <a:latin typeface="Poppins"/>
                <a:ea typeface="Poppins"/>
                <a:cs typeface="Poppins"/>
                <a:sym typeface="Poppins"/>
              </a:rPr>
              <a:t>Calculates total marks and percentage for each student.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1B1919"/>
                </a:solidFill>
                <a:latin typeface="Poppins"/>
                <a:ea typeface="Poppins"/>
                <a:cs typeface="Poppins"/>
                <a:sym typeface="Poppins"/>
              </a:rPr>
              <a:t>Assigns grades based on percentage.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1B1919"/>
                </a:solidFill>
                <a:latin typeface="Poppins"/>
                <a:ea typeface="Poppins"/>
                <a:cs typeface="Poppins"/>
                <a:sym typeface="Poppins"/>
              </a:rPr>
              <a:t>Determines Pass or Fail status.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1B1919"/>
                </a:solidFill>
                <a:latin typeface="Poppins"/>
                <a:ea typeface="Poppins"/>
                <a:cs typeface="Poppins"/>
                <a:sym typeface="Poppins"/>
              </a:rPr>
              <a:t>Displays the student performance report neatly.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1B1919"/>
                </a:solidFill>
                <a:latin typeface="Poppins"/>
                <a:ea typeface="Poppins"/>
                <a:cs typeface="Poppins"/>
                <a:sym typeface="Poppins"/>
              </a:rPr>
              <a:t>Saves the final report as a new CSV file for record.</a:t>
            </a:r>
          </a:p>
          <a:p>
            <a:pPr algn="l">
              <a:lnSpc>
                <a:spcPts val="3919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587381" y="2565535"/>
            <a:ext cx="7242125" cy="677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80"/>
              </a:lnSpc>
            </a:pPr>
            <a:r>
              <a:rPr lang="en-US" sz="3700" b="true">
                <a:solidFill>
                  <a:srgbClr val="1B1919"/>
                </a:solidFill>
                <a:latin typeface="Poppins Bold"/>
                <a:ea typeface="Poppins Bold"/>
                <a:cs typeface="Poppins Bold"/>
                <a:sym typeface="Poppins Bold"/>
              </a:rPr>
              <a:t>Features Used in the Program: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762317" y="2695074"/>
            <a:ext cx="532765" cy="532765"/>
          </a:xfrm>
          <a:custGeom>
            <a:avLst/>
            <a:gdLst/>
            <a:ahLst/>
            <a:cxnLst/>
            <a:rect r="r" b="b" t="t" l="l"/>
            <a:pathLst>
              <a:path h="532765" w="532765">
                <a:moveTo>
                  <a:pt x="0" y="0"/>
                </a:moveTo>
                <a:lnTo>
                  <a:pt x="532766" y="0"/>
                </a:lnTo>
                <a:lnTo>
                  <a:pt x="532766" y="532766"/>
                </a:lnTo>
                <a:lnTo>
                  <a:pt x="0" y="53276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230600" y="-20574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869223" y="8417777"/>
            <a:ext cx="3738446" cy="3738446"/>
          </a:xfrm>
          <a:custGeom>
            <a:avLst/>
            <a:gdLst/>
            <a:ahLst/>
            <a:cxnLst/>
            <a:rect r="r" b="b" t="t" l="l"/>
            <a:pathLst>
              <a:path h="3738446" w="3738446">
                <a:moveTo>
                  <a:pt x="0" y="0"/>
                </a:moveTo>
                <a:lnTo>
                  <a:pt x="3738446" y="0"/>
                </a:lnTo>
                <a:lnTo>
                  <a:pt x="3738446" y="3738446"/>
                </a:lnTo>
                <a:lnTo>
                  <a:pt x="0" y="37384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9098584"/>
            <a:ext cx="2385506" cy="2376832"/>
          </a:xfrm>
          <a:custGeom>
            <a:avLst/>
            <a:gdLst/>
            <a:ahLst/>
            <a:cxnLst/>
            <a:rect r="r" b="b" t="t" l="l"/>
            <a:pathLst>
              <a:path h="2376832" w="2385506">
                <a:moveTo>
                  <a:pt x="0" y="0"/>
                </a:moveTo>
                <a:lnTo>
                  <a:pt x="2385506" y="0"/>
                </a:lnTo>
                <a:lnTo>
                  <a:pt x="2385506" y="2376832"/>
                </a:lnTo>
                <a:lnTo>
                  <a:pt x="0" y="23768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14873794" y="-1348132"/>
            <a:ext cx="2385506" cy="2376832"/>
          </a:xfrm>
          <a:custGeom>
            <a:avLst/>
            <a:gdLst/>
            <a:ahLst/>
            <a:cxnLst/>
            <a:rect r="r" b="b" t="t" l="l"/>
            <a:pathLst>
              <a:path h="2376832" w="2385506">
                <a:moveTo>
                  <a:pt x="0" y="2376832"/>
                </a:moveTo>
                <a:lnTo>
                  <a:pt x="2385506" y="2376832"/>
                </a:lnTo>
                <a:lnTo>
                  <a:pt x="2385506" y="0"/>
                </a:lnTo>
                <a:lnTo>
                  <a:pt x="0" y="0"/>
                </a:lnTo>
                <a:lnTo>
                  <a:pt x="0" y="23768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700000">
            <a:off x="16466659" y="8512647"/>
            <a:ext cx="1516114" cy="1491305"/>
          </a:xfrm>
          <a:custGeom>
            <a:avLst/>
            <a:gdLst/>
            <a:ahLst/>
            <a:cxnLst/>
            <a:rect r="r" b="b" t="t" l="l"/>
            <a:pathLst>
              <a:path h="1491305" w="1516114">
                <a:moveTo>
                  <a:pt x="0" y="0"/>
                </a:moveTo>
                <a:lnTo>
                  <a:pt x="1516115" y="0"/>
                </a:lnTo>
                <a:lnTo>
                  <a:pt x="1516115" y="1491306"/>
                </a:lnTo>
                <a:lnTo>
                  <a:pt x="0" y="14913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2700000">
            <a:off x="270643" y="283047"/>
            <a:ext cx="1516114" cy="1491305"/>
          </a:xfrm>
          <a:custGeom>
            <a:avLst/>
            <a:gdLst/>
            <a:ahLst/>
            <a:cxnLst/>
            <a:rect r="r" b="b" t="t" l="l"/>
            <a:pathLst>
              <a:path h="1491305" w="1516114">
                <a:moveTo>
                  <a:pt x="0" y="0"/>
                </a:moveTo>
                <a:lnTo>
                  <a:pt x="1516114" y="0"/>
                </a:lnTo>
                <a:lnTo>
                  <a:pt x="1516114" y="1491306"/>
                </a:lnTo>
                <a:lnTo>
                  <a:pt x="0" y="14913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319426" y="9951733"/>
            <a:ext cx="3879747" cy="3047365"/>
          </a:xfrm>
          <a:custGeom>
            <a:avLst/>
            <a:gdLst/>
            <a:ahLst/>
            <a:cxnLst/>
            <a:rect r="r" b="b" t="t" l="l"/>
            <a:pathLst>
              <a:path h="3047365" w="3879747">
                <a:moveTo>
                  <a:pt x="0" y="0"/>
                </a:moveTo>
                <a:lnTo>
                  <a:pt x="3879748" y="0"/>
                </a:lnTo>
                <a:lnTo>
                  <a:pt x="3879748" y="3047365"/>
                </a:lnTo>
                <a:lnTo>
                  <a:pt x="0" y="304736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0">
            <a:off x="-911174" y="-2692541"/>
            <a:ext cx="3879747" cy="3047365"/>
          </a:xfrm>
          <a:custGeom>
            <a:avLst/>
            <a:gdLst/>
            <a:ahLst/>
            <a:cxnLst/>
            <a:rect r="r" b="b" t="t" l="l"/>
            <a:pathLst>
              <a:path h="3047365" w="3879747">
                <a:moveTo>
                  <a:pt x="3879748" y="3047365"/>
                </a:moveTo>
                <a:lnTo>
                  <a:pt x="0" y="3047365"/>
                </a:lnTo>
                <a:lnTo>
                  <a:pt x="0" y="0"/>
                </a:lnTo>
                <a:lnTo>
                  <a:pt x="3879748" y="0"/>
                </a:lnTo>
                <a:lnTo>
                  <a:pt x="3879748" y="3047365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221453" y="2642723"/>
            <a:ext cx="14663854" cy="5487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</a:p>
          <a:p>
            <a:pPr algn="l" marL="561341" indent="-280670" lvl="1">
              <a:lnSpc>
                <a:spcPts val="3640"/>
              </a:lnSpc>
              <a:buAutoNum type="arabicPeriod" startAt="1"/>
            </a:pPr>
            <a:r>
              <a:rPr lang="en-US" sz="2600">
                <a:solidFill>
                  <a:srgbClr val="1B1919"/>
                </a:solidFill>
                <a:latin typeface="Poppins"/>
                <a:ea typeface="Poppins"/>
                <a:cs typeface="Poppins"/>
                <a:sym typeface="Poppins"/>
              </a:rPr>
              <a:t>Start the program.</a:t>
            </a:r>
          </a:p>
          <a:p>
            <a:pPr algn="l" marL="561341" indent="-280670" lvl="1">
              <a:lnSpc>
                <a:spcPts val="3640"/>
              </a:lnSpc>
              <a:buAutoNum type="arabicPeriod" startAt="1"/>
            </a:pPr>
            <a:r>
              <a:rPr lang="en-US" sz="2600">
                <a:solidFill>
                  <a:srgbClr val="1B1919"/>
                </a:solidFill>
                <a:latin typeface="Poppins"/>
                <a:ea typeface="Poppins"/>
                <a:cs typeface="Poppins"/>
                <a:sym typeface="Poppins"/>
              </a:rPr>
              <a:t>Import the required modules (pandas, numpy).</a:t>
            </a:r>
          </a:p>
          <a:p>
            <a:pPr algn="l" marL="561341" indent="-280670" lvl="1">
              <a:lnSpc>
                <a:spcPts val="3640"/>
              </a:lnSpc>
              <a:buAutoNum type="arabicPeriod" startAt="1"/>
            </a:pPr>
            <a:r>
              <a:rPr lang="en-US" sz="2600">
                <a:solidFill>
                  <a:srgbClr val="1B1919"/>
                </a:solidFill>
                <a:latin typeface="Poppins"/>
                <a:ea typeface="Poppins"/>
                <a:cs typeface="Poppins"/>
                <a:sym typeface="Poppins"/>
              </a:rPr>
              <a:t>Read the input marks file (marks.csv) using pandas.read_csv().</a:t>
            </a:r>
          </a:p>
          <a:p>
            <a:pPr algn="l" marL="561341" indent="-280670" lvl="1">
              <a:lnSpc>
                <a:spcPts val="3640"/>
              </a:lnSpc>
              <a:buAutoNum type="arabicPeriod" startAt="1"/>
            </a:pPr>
            <a:r>
              <a:rPr lang="en-US" sz="2600">
                <a:solidFill>
                  <a:srgbClr val="1B1919"/>
                </a:solidFill>
                <a:latin typeface="Poppins"/>
                <a:ea typeface="Poppins"/>
                <a:cs typeface="Poppins"/>
                <a:sym typeface="Poppins"/>
              </a:rPr>
              <a:t>Identify subject columns and handle any missing data.</a:t>
            </a:r>
          </a:p>
          <a:p>
            <a:pPr algn="l" marL="561341" indent="-280670" lvl="1">
              <a:lnSpc>
                <a:spcPts val="3640"/>
              </a:lnSpc>
              <a:buAutoNum type="arabicPeriod" startAt="1"/>
            </a:pPr>
            <a:r>
              <a:rPr lang="en-US" sz="2600">
                <a:solidFill>
                  <a:srgbClr val="1B1919"/>
                </a:solidFill>
                <a:latin typeface="Poppins"/>
                <a:ea typeface="Poppins"/>
                <a:cs typeface="Poppins"/>
                <a:sym typeface="Poppins"/>
              </a:rPr>
              <a:t>Calculate the total and percentage for each student.</a:t>
            </a:r>
          </a:p>
          <a:p>
            <a:pPr algn="l" marL="561341" indent="-280670" lvl="1">
              <a:lnSpc>
                <a:spcPts val="3640"/>
              </a:lnSpc>
              <a:buAutoNum type="arabicPeriod" startAt="1"/>
            </a:pPr>
            <a:r>
              <a:rPr lang="en-US" sz="2600">
                <a:solidFill>
                  <a:srgbClr val="1B1919"/>
                </a:solidFill>
                <a:latin typeface="Poppins"/>
                <a:ea typeface="Poppins"/>
                <a:cs typeface="Poppins"/>
                <a:sym typeface="Poppins"/>
              </a:rPr>
              <a:t>Use conditional statements to assign grades (A, B, C, D, F).</a:t>
            </a:r>
          </a:p>
          <a:p>
            <a:pPr algn="l" marL="561341" indent="-280670" lvl="1">
              <a:lnSpc>
                <a:spcPts val="3640"/>
              </a:lnSpc>
              <a:buAutoNum type="arabicPeriod" startAt="1"/>
            </a:pPr>
            <a:r>
              <a:rPr lang="en-US" sz="2600">
                <a:solidFill>
                  <a:srgbClr val="1B1919"/>
                </a:solidFill>
                <a:latin typeface="Poppins"/>
                <a:ea typeface="Poppins"/>
                <a:cs typeface="Poppins"/>
                <a:sym typeface="Poppins"/>
              </a:rPr>
              <a:t>Check whether each student passes or fails (≥ 40% = Pass).</a:t>
            </a:r>
          </a:p>
          <a:p>
            <a:pPr algn="l" marL="561341" indent="-280670" lvl="1">
              <a:lnSpc>
                <a:spcPts val="3640"/>
              </a:lnSpc>
              <a:buAutoNum type="arabicPeriod" startAt="1"/>
            </a:pPr>
            <a:r>
              <a:rPr lang="en-US" sz="2600">
                <a:solidFill>
                  <a:srgbClr val="1B1919"/>
                </a:solidFill>
                <a:latin typeface="Poppins"/>
                <a:ea typeface="Poppins"/>
                <a:cs typeface="Poppins"/>
                <a:sym typeface="Poppins"/>
              </a:rPr>
              <a:t>Display the final results on screen.</a:t>
            </a:r>
          </a:p>
          <a:p>
            <a:pPr algn="l" marL="561341" indent="-280670" lvl="1">
              <a:lnSpc>
                <a:spcPts val="3640"/>
              </a:lnSpc>
              <a:buAutoNum type="arabicPeriod" startAt="1"/>
            </a:pPr>
            <a:r>
              <a:rPr lang="en-US" sz="2600">
                <a:solidFill>
                  <a:srgbClr val="1B1919"/>
                </a:solidFill>
                <a:latin typeface="Poppins"/>
                <a:ea typeface="Poppins"/>
                <a:cs typeface="Poppins"/>
                <a:sym typeface="Poppins"/>
              </a:rPr>
              <a:t>Save the final data as student_report.csv.</a:t>
            </a:r>
          </a:p>
          <a:p>
            <a:pPr algn="l" marL="561341" indent="-280670" lvl="1">
              <a:lnSpc>
                <a:spcPts val="3640"/>
              </a:lnSpc>
              <a:buAutoNum type="arabicPeriod" startAt="1"/>
            </a:pPr>
            <a:r>
              <a:rPr lang="en-US" sz="2600">
                <a:solidFill>
                  <a:srgbClr val="1B1919"/>
                </a:solidFill>
                <a:latin typeface="Poppins"/>
                <a:ea typeface="Poppins"/>
                <a:cs typeface="Poppins"/>
                <a:sym typeface="Poppins"/>
              </a:rPr>
              <a:t>Stop the program.</a:t>
            </a:r>
          </a:p>
          <a:p>
            <a:pPr algn="l">
              <a:lnSpc>
                <a:spcPts val="3640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2368482" y="2155508"/>
            <a:ext cx="2721248" cy="701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60"/>
              </a:lnSpc>
            </a:pPr>
            <a:r>
              <a:rPr lang="en-US" sz="3900" b="true">
                <a:solidFill>
                  <a:srgbClr val="1B1919"/>
                </a:solidFill>
                <a:latin typeface="Poppins Bold"/>
                <a:ea typeface="Poppins Bold"/>
                <a:cs typeface="Poppins Bold"/>
                <a:sym typeface="Poppins Bold"/>
              </a:rPr>
              <a:t>Algorithm: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602841" y="2296795"/>
            <a:ext cx="532765" cy="532765"/>
          </a:xfrm>
          <a:custGeom>
            <a:avLst/>
            <a:gdLst/>
            <a:ahLst/>
            <a:cxnLst/>
            <a:rect r="r" b="b" t="t" l="l"/>
            <a:pathLst>
              <a:path h="532765" w="532765">
                <a:moveTo>
                  <a:pt x="0" y="0"/>
                </a:moveTo>
                <a:lnTo>
                  <a:pt x="532765" y="0"/>
                </a:lnTo>
                <a:lnTo>
                  <a:pt x="532765" y="532766"/>
                </a:lnTo>
                <a:lnTo>
                  <a:pt x="0" y="53276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230600" y="-20574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869223" y="8417777"/>
            <a:ext cx="3738446" cy="3738446"/>
          </a:xfrm>
          <a:custGeom>
            <a:avLst/>
            <a:gdLst/>
            <a:ahLst/>
            <a:cxnLst/>
            <a:rect r="r" b="b" t="t" l="l"/>
            <a:pathLst>
              <a:path h="3738446" w="3738446">
                <a:moveTo>
                  <a:pt x="0" y="0"/>
                </a:moveTo>
                <a:lnTo>
                  <a:pt x="3738446" y="0"/>
                </a:lnTo>
                <a:lnTo>
                  <a:pt x="3738446" y="3738446"/>
                </a:lnTo>
                <a:lnTo>
                  <a:pt x="0" y="37384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9098584"/>
            <a:ext cx="2385506" cy="2376832"/>
          </a:xfrm>
          <a:custGeom>
            <a:avLst/>
            <a:gdLst/>
            <a:ahLst/>
            <a:cxnLst/>
            <a:rect r="r" b="b" t="t" l="l"/>
            <a:pathLst>
              <a:path h="2376832" w="2385506">
                <a:moveTo>
                  <a:pt x="0" y="0"/>
                </a:moveTo>
                <a:lnTo>
                  <a:pt x="2385506" y="0"/>
                </a:lnTo>
                <a:lnTo>
                  <a:pt x="2385506" y="2376832"/>
                </a:lnTo>
                <a:lnTo>
                  <a:pt x="0" y="23768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14873794" y="-1348132"/>
            <a:ext cx="2385506" cy="2376832"/>
          </a:xfrm>
          <a:custGeom>
            <a:avLst/>
            <a:gdLst/>
            <a:ahLst/>
            <a:cxnLst/>
            <a:rect r="r" b="b" t="t" l="l"/>
            <a:pathLst>
              <a:path h="2376832" w="2385506">
                <a:moveTo>
                  <a:pt x="0" y="2376832"/>
                </a:moveTo>
                <a:lnTo>
                  <a:pt x="2385506" y="2376832"/>
                </a:lnTo>
                <a:lnTo>
                  <a:pt x="2385506" y="0"/>
                </a:lnTo>
                <a:lnTo>
                  <a:pt x="0" y="0"/>
                </a:lnTo>
                <a:lnTo>
                  <a:pt x="0" y="23768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700000">
            <a:off x="16466659" y="8512647"/>
            <a:ext cx="1516114" cy="1491305"/>
          </a:xfrm>
          <a:custGeom>
            <a:avLst/>
            <a:gdLst/>
            <a:ahLst/>
            <a:cxnLst/>
            <a:rect r="r" b="b" t="t" l="l"/>
            <a:pathLst>
              <a:path h="1491305" w="1516114">
                <a:moveTo>
                  <a:pt x="0" y="0"/>
                </a:moveTo>
                <a:lnTo>
                  <a:pt x="1516115" y="0"/>
                </a:lnTo>
                <a:lnTo>
                  <a:pt x="1516115" y="1491306"/>
                </a:lnTo>
                <a:lnTo>
                  <a:pt x="0" y="14913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2700000">
            <a:off x="270643" y="283047"/>
            <a:ext cx="1516114" cy="1491305"/>
          </a:xfrm>
          <a:custGeom>
            <a:avLst/>
            <a:gdLst/>
            <a:ahLst/>
            <a:cxnLst/>
            <a:rect r="r" b="b" t="t" l="l"/>
            <a:pathLst>
              <a:path h="1491305" w="1516114">
                <a:moveTo>
                  <a:pt x="0" y="0"/>
                </a:moveTo>
                <a:lnTo>
                  <a:pt x="1516114" y="0"/>
                </a:lnTo>
                <a:lnTo>
                  <a:pt x="1516114" y="1491306"/>
                </a:lnTo>
                <a:lnTo>
                  <a:pt x="0" y="14913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319426" y="9951733"/>
            <a:ext cx="3879747" cy="3047365"/>
          </a:xfrm>
          <a:custGeom>
            <a:avLst/>
            <a:gdLst/>
            <a:ahLst/>
            <a:cxnLst/>
            <a:rect r="r" b="b" t="t" l="l"/>
            <a:pathLst>
              <a:path h="3047365" w="3879747">
                <a:moveTo>
                  <a:pt x="0" y="0"/>
                </a:moveTo>
                <a:lnTo>
                  <a:pt x="3879748" y="0"/>
                </a:lnTo>
                <a:lnTo>
                  <a:pt x="3879748" y="3047365"/>
                </a:lnTo>
                <a:lnTo>
                  <a:pt x="0" y="304736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0">
            <a:off x="-911174" y="-2692541"/>
            <a:ext cx="3879747" cy="3047365"/>
          </a:xfrm>
          <a:custGeom>
            <a:avLst/>
            <a:gdLst/>
            <a:ahLst/>
            <a:cxnLst/>
            <a:rect r="r" b="b" t="t" l="l"/>
            <a:pathLst>
              <a:path h="3047365" w="3879747">
                <a:moveTo>
                  <a:pt x="3879748" y="3047365"/>
                </a:moveTo>
                <a:lnTo>
                  <a:pt x="0" y="3047365"/>
                </a:lnTo>
                <a:lnTo>
                  <a:pt x="0" y="0"/>
                </a:lnTo>
                <a:lnTo>
                  <a:pt x="3879748" y="0"/>
                </a:lnTo>
                <a:lnTo>
                  <a:pt x="3879748" y="3047365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182113" y="2558632"/>
            <a:ext cx="14663854" cy="6249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1B1919"/>
                </a:solidFill>
                <a:latin typeface="Poppins"/>
                <a:ea typeface="Poppins"/>
                <a:cs typeface="Poppins"/>
                <a:sym typeface="Poppins"/>
              </a:rPr>
              <a:t>import pandas as pd</a:t>
            </a:r>
          </a:p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1B1919"/>
                </a:solidFill>
                <a:latin typeface="Poppins"/>
                <a:ea typeface="Poppins"/>
                <a:cs typeface="Poppins"/>
                <a:sym typeface="Poppins"/>
              </a:rPr>
              <a:t>import numpy as np</a:t>
            </a:r>
          </a:p>
          <a:p>
            <a:pPr algn="l">
              <a:lnSpc>
                <a:spcPts val="3080"/>
              </a:lnSpc>
            </a:pPr>
          </a:p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1B1919"/>
                </a:solidFill>
                <a:latin typeface="Poppins"/>
                <a:ea typeface="Poppins"/>
                <a:cs typeface="Poppins"/>
                <a:sym typeface="Poppins"/>
              </a:rPr>
              <a:t>def get_grade(percentage):</a:t>
            </a:r>
          </a:p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1B1919"/>
                </a:solidFill>
                <a:latin typeface="Poppins"/>
                <a:ea typeface="Poppins"/>
                <a:cs typeface="Poppins"/>
                <a:sym typeface="Poppins"/>
              </a:rPr>
              <a:t>     if percentage &gt;= 90:</a:t>
            </a:r>
          </a:p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1B1919"/>
                </a:solidFill>
                <a:latin typeface="Poppins"/>
                <a:ea typeface="Poppins"/>
                <a:cs typeface="Poppins"/>
                <a:sym typeface="Poppins"/>
              </a:rPr>
              <a:t>       return 'A'</a:t>
            </a:r>
          </a:p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1B1919"/>
                </a:solidFill>
                <a:latin typeface="Poppins"/>
                <a:ea typeface="Poppins"/>
                <a:cs typeface="Poppins"/>
                <a:sym typeface="Poppins"/>
              </a:rPr>
              <a:t>     elif percentage &gt;= 80:</a:t>
            </a:r>
          </a:p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1B1919"/>
                </a:solidFill>
                <a:latin typeface="Poppins"/>
                <a:ea typeface="Poppins"/>
                <a:cs typeface="Poppins"/>
                <a:sym typeface="Poppins"/>
              </a:rPr>
              <a:t>       return 'B'</a:t>
            </a:r>
          </a:p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1B1919"/>
                </a:solidFill>
                <a:latin typeface="Poppins"/>
                <a:ea typeface="Poppins"/>
                <a:cs typeface="Poppins"/>
                <a:sym typeface="Poppins"/>
              </a:rPr>
              <a:t>     elif percentage &gt;= 70:</a:t>
            </a:r>
          </a:p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1B1919"/>
                </a:solidFill>
                <a:latin typeface="Poppins"/>
                <a:ea typeface="Poppins"/>
                <a:cs typeface="Poppins"/>
                <a:sym typeface="Poppins"/>
              </a:rPr>
              <a:t>       return 'C'</a:t>
            </a:r>
          </a:p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1B1919"/>
                </a:solidFill>
                <a:latin typeface="Poppins"/>
                <a:ea typeface="Poppins"/>
                <a:cs typeface="Poppins"/>
                <a:sym typeface="Poppins"/>
              </a:rPr>
              <a:t>     elif percentage &gt;= 60:</a:t>
            </a:r>
          </a:p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1B1919"/>
                </a:solidFill>
                <a:latin typeface="Poppins"/>
                <a:ea typeface="Poppins"/>
                <a:cs typeface="Poppins"/>
                <a:sym typeface="Poppins"/>
              </a:rPr>
              <a:t>       return 'D'</a:t>
            </a:r>
          </a:p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1B1919"/>
                </a:solidFill>
                <a:latin typeface="Poppins"/>
                <a:ea typeface="Poppins"/>
                <a:cs typeface="Poppins"/>
                <a:sym typeface="Poppins"/>
              </a:rPr>
              <a:t>     else:</a:t>
            </a:r>
          </a:p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1B1919"/>
                </a:solidFill>
                <a:latin typeface="Poppins"/>
                <a:ea typeface="Poppins"/>
                <a:cs typeface="Poppins"/>
                <a:sym typeface="Poppins"/>
              </a:rPr>
              <a:t>       return 'F'</a:t>
            </a:r>
          </a:p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1B1919"/>
                </a:solidFill>
                <a:latin typeface="Poppins"/>
                <a:ea typeface="Poppins"/>
                <a:cs typeface="Poppins"/>
                <a:sym typeface="Poppins"/>
              </a:rPr>
              <a:t>df = pd.read_csv("marks.csv")</a:t>
            </a:r>
          </a:p>
          <a:p>
            <a:pPr algn="l">
              <a:lnSpc>
                <a:spcPts val="3080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3151492" y="1661478"/>
            <a:ext cx="2325142" cy="684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sz="3800" b="true">
                <a:solidFill>
                  <a:srgbClr val="1B1919"/>
                </a:solidFill>
                <a:latin typeface="Poppins Bold"/>
                <a:ea typeface="Poppins Bold"/>
                <a:cs typeface="Poppins Bold"/>
                <a:sym typeface="Poppins Bold"/>
              </a:rPr>
              <a:t>Program: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2435809" y="1775778"/>
            <a:ext cx="532765" cy="532765"/>
          </a:xfrm>
          <a:custGeom>
            <a:avLst/>
            <a:gdLst/>
            <a:ahLst/>
            <a:cxnLst/>
            <a:rect r="r" b="b" t="t" l="l"/>
            <a:pathLst>
              <a:path h="532765" w="532765">
                <a:moveTo>
                  <a:pt x="0" y="0"/>
                </a:moveTo>
                <a:lnTo>
                  <a:pt x="532765" y="0"/>
                </a:lnTo>
                <a:lnTo>
                  <a:pt x="532765" y="532765"/>
                </a:lnTo>
                <a:lnTo>
                  <a:pt x="0" y="53276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138261" y="6525770"/>
            <a:ext cx="22564522" cy="8346717"/>
            <a:chOff x="0" y="0"/>
            <a:chExt cx="812800" cy="3006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300658"/>
            </a:xfrm>
            <a:custGeom>
              <a:avLst/>
              <a:gdLst/>
              <a:ahLst/>
              <a:cxnLst/>
              <a:rect r="r" b="b" t="t" l="l"/>
              <a:pathLst>
                <a:path h="300658" w="812800">
                  <a:moveTo>
                    <a:pt x="406400" y="0"/>
                  </a:moveTo>
                  <a:cubicBezTo>
                    <a:pt x="181951" y="0"/>
                    <a:pt x="0" y="67305"/>
                    <a:pt x="0" y="150329"/>
                  </a:cubicBezTo>
                  <a:cubicBezTo>
                    <a:pt x="0" y="233354"/>
                    <a:pt x="181951" y="300658"/>
                    <a:pt x="406400" y="300658"/>
                  </a:cubicBezTo>
                  <a:cubicBezTo>
                    <a:pt x="630849" y="300658"/>
                    <a:pt x="812800" y="233354"/>
                    <a:pt x="812800" y="150329"/>
                  </a:cubicBezTo>
                  <a:cubicBezTo>
                    <a:pt x="812800" y="67305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F6F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-38488"/>
              <a:ext cx="660400" cy="3109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850592" y="3501948"/>
            <a:ext cx="3317488" cy="1133475"/>
            <a:chOff x="0" y="0"/>
            <a:chExt cx="1048490" cy="35823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48490" cy="358234"/>
            </a:xfrm>
            <a:custGeom>
              <a:avLst/>
              <a:gdLst/>
              <a:ahLst/>
              <a:cxnLst/>
              <a:rect r="r" b="b" t="t" l="l"/>
              <a:pathLst>
                <a:path h="358234" w="1048490">
                  <a:moveTo>
                    <a:pt x="70010" y="0"/>
                  </a:moveTo>
                  <a:lnTo>
                    <a:pt x="978480" y="0"/>
                  </a:lnTo>
                  <a:cubicBezTo>
                    <a:pt x="997048" y="0"/>
                    <a:pt x="1014855" y="7376"/>
                    <a:pt x="1027985" y="20505"/>
                  </a:cubicBezTo>
                  <a:cubicBezTo>
                    <a:pt x="1041114" y="33635"/>
                    <a:pt x="1048490" y="51442"/>
                    <a:pt x="1048490" y="70010"/>
                  </a:cubicBezTo>
                  <a:lnTo>
                    <a:pt x="1048490" y="288224"/>
                  </a:lnTo>
                  <a:cubicBezTo>
                    <a:pt x="1048490" y="306792"/>
                    <a:pt x="1041114" y="324599"/>
                    <a:pt x="1027985" y="337729"/>
                  </a:cubicBezTo>
                  <a:cubicBezTo>
                    <a:pt x="1014855" y="350858"/>
                    <a:pt x="997048" y="358234"/>
                    <a:pt x="978480" y="358234"/>
                  </a:cubicBezTo>
                  <a:lnTo>
                    <a:pt x="70010" y="358234"/>
                  </a:lnTo>
                  <a:cubicBezTo>
                    <a:pt x="31345" y="358234"/>
                    <a:pt x="0" y="326889"/>
                    <a:pt x="0" y="288224"/>
                  </a:cubicBezTo>
                  <a:lnTo>
                    <a:pt x="0" y="70010"/>
                  </a:lnTo>
                  <a:cubicBezTo>
                    <a:pt x="0" y="51442"/>
                    <a:pt x="7376" y="33635"/>
                    <a:pt x="20505" y="20505"/>
                  </a:cubicBezTo>
                  <a:cubicBezTo>
                    <a:pt x="33635" y="7376"/>
                    <a:pt x="51442" y="0"/>
                    <a:pt x="7001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1048490" cy="4249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485256" y="3501948"/>
            <a:ext cx="3317488" cy="1133475"/>
            <a:chOff x="0" y="0"/>
            <a:chExt cx="1048490" cy="35823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48490" cy="358234"/>
            </a:xfrm>
            <a:custGeom>
              <a:avLst/>
              <a:gdLst/>
              <a:ahLst/>
              <a:cxnLst/>
              <a:rect r="r" b="b" t="t" l="l"/>
              <a:pathLst>
                <a:path h="358234" w="1048490">
                  <a:moveTo>
                    <a:pt x="70010" y="0"/>
                  </a:moveTo>
                  <a:lnTo>
                    <a:pt x="978480" y="0"/>
                  </a:lnTo>
                  <a:cubicBezTo>
                    <a:pt x="997048" y="0"/>
                    <a:pt x="1014855" y="7376"/>
                    <a:pt x="1027985" y="20505"/>
                  </a:cubicBezTo>
                  <a:cubicBezTo>
                    <a:pt x="1041114" y="33635"/>
                    <a:pt x="1048490" y="51442"/>
                    <a:pt x="1048490" y="70010"/>
                  </a:cubicBezTo>
                  <a:lnTo>
                    <a:pt x="1048490" y="288224"/>
                  </a:lnTo>
                  <a:cubicBezTo>
                    <a:pt x="1048490" y="306792"/>
                    <a:pt x="1041114" y="324599"/>
                    <a:pt x="1027985" y="337729"/>
                  </a:cubicBezTo>
                  <a:cubicBezTo>
                    <a:pt x="1014855" y="350858"/>
                    <a:pt x="997048" y="358234"/>
                    <a:pt x="978480" y="358234"/>
                  </a:cubicBezTo>
                  <a:lnTo>
                    <a:pt x="70010" y="358234"/>
                  </a:lnTo>
                  <a:cubicBezTo>
                    <a:pt x="31345" y="358234"/>
                    <a:pt x="0" y="326889"/>
                    <a:pt x="0" y="288224"/>
                  </a:cubicBezTo>
                  <a:lnTo>
                    <a:pt x="0" y="70010"/>
                  </a:lnTo>
                  <a:cubicBezTo>
                    <a:pt x="0" y="51442"/>
                    <a:pt x="7376" y="33635"/>
                    <a:pt x="20505" y="20505"/>
                  </a:cubicBezTo>
                  <a:cubicBezTo>
                    <a:pt x="33635" y="7376"/>
                    <a:pt x="51442" y="0"/>
                    <a:pt x="7001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1048490" cy="4249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-5400000">
            <a:off x="16193900" y="1030641"/>
            <a:ext cx="1067341" cy="1063459"/>
          </a:xfrm>
          <a:custGeom>
            <a:avLst/>
            <a:gdLst/>
            <a:ahLst/>
            <a:cxnLst/>
            <a:rect r="r" b="b" t="t" l="l"/>
            <a:pathLst>
              <a:path h="1063459" w="1067341">
                <a:moveTo>
                  <a:pt x="0" y="0"/>
                </a:moveTo>
                <a:lnTo>
                  <a:pt x="1067341" y="0"/>
                </a:lnTo>
                <a:lnTo>
                  <a:pt x="1067341" y="1063459"/>
                </a:lnTo>
                <a:lnTo>
                  <a:pt x="0" y="10634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5400000">
            <a:off x="1031067" y="1030641"/>
            <a:ext cx="1067341" cy="1063459"/>
          </a:xfrm>
          <a:custGeom>
            <a:avLst/>
            <a:gdLst/>
            <a:ahLst/>
            <a:cxnLst/>
            <a:rect r="r" b="b" t="t" l="l"/>
            <a:pathLst>
              <a:path h="1063459" w="1067341">
                <a:moveTo>
                  <a:pt x="0" y="0"/>
                </a:moveTo>
                <a:lnTo>
                  <a:pt x="1067341" y="0"/>
                </a:lnTo>
                <a:lnTo>
                  <a:pt x="1067341" y="1063459"/>
                </a:lnTo>
                <a:lnTo>
                  <a:pt x="0" y="10634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721152" y="2154505"/>
            <a:ext cx="13221808" cy="6279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54"/>
              </a:lnSpc>
            </a:pPr>
            <a:r>
              <a:rPr lang="en-US" sz="2538">
                <a:solidFill>
                  <a:srgbClr val="1B1919"/>
                </a:solidFill>
                <a:latin typeface="Poppins"/>
                <a:ea typeface="Poppins"/>
                <a:cs typeface="Poppins"/>
                <a:sym typeface="Poppins"/>
              </a:rPr>
              <a:t>subject_cols = [col for col in df.columns if col not in ['StudentID', 'Name']]</a:t>
            </a:r>
          </a:p>
          <a:p>
            <a:pPr algn="just">
              <a:lnSpc>
                <a:spcPts val="3554"/>
              </a:lnSpc>
            </a:pPr>
            <a:r>
              <a:rPr lang="en-US" sz="2538">
                <a:solidFill>
                  <a:srgbClr val="1B1919"/>
                </a:solidFill>
                <a:latin typeface="Poppins"/>
                <a:ea typeface="Poppins"/>
                <a:cs typeface="Poppins"/>
                <a:sym typeface="Poppins"/>
              </a:rPr>
              <a:t>df[subject_cols]=df[subject_cols].apply(pd.to_numeric,errors='coerce').fillna(0)</a:t>
            </a:r>
          </a:p>
          <a:p>
            <a:pPr algn="just">
              <a:lnSpc>
                <a:spcPts val="3554"/>
              </a:lnSpc>
            </a:pPr>
          </a:p>
          <a:p>
            <a:pPr algn="just">
              <a:lnSpc>
                <a:spcPts val="3554"/>
              </a:lnSpc>
            </a:pPr>
            <a:r>
              <a:rPr lang="en-US" sz="2538">
                <a:solidFill>
                  <a:srgbClr val="1B1919"/>
                </a:solidFill>
                <a:latin typeface="Poppins"/>
                <a:ea typeface="Poppins"/>
                <a:cs typeface="Poppins"/>
                <a:sym typeface="Poppins"/>
              </a:rPr>
              <a:t>df['Total'] = df[subject_cols].sum(axis=1)</a:t>
            </a:r>
          </a:p>
          <a:p>
            <a:pPr algn="just">
              <a:lnSpc>
                <a:spcPts val="3554"/>
              </a:lnSpc>
            </a:pPr>
            <a:r>
              <a:rPr lang="en-US" sz="2538">
                <a:solidFill>
                  <a:srgbClr val="1B1919"/>
                </a:solidFill>
                <a:latin typeface="Poppins"/>
                <a:ea typeface="Poppins"/>
                <a:cs typeface="Poppins"/>
                <a:sym typeface="Poppins"/>
              </a:rPr>
              <a:t>df['Percentage'] = (df['Total'] / (len(subject_cols) * 100)) * 100</a:t>
            </a:r>
          </a:p>
          <a:p>
            <a:pPr algn="just">
              <a:lnSpc>
                <a:spcPts val="3554"/>
              </a:lnSpc>
            </a:pPr>
          </a:p>
          <a:p>
            <a:pPr algn="just">
              <a:lnSpc>
                <a:spcPts val="3554"/>
              </a:lnSpc>
            </a:pPr>
            <a:r>
              <a:rPr lang="en-US" sz="2538">
                <a:solidFill>
                  <a:srgbClr val="1B1919"/>
                </a:solidFill>
                <a:latin typeface="Poppins"/>
                <a:ea typeface="Poppins"/>
                <a:cs typeface="Poppins"/>
                <a:sym typeface="Poppins"/>
              </a:rPr>
              <a:t>df['Grade'] = df['Percentage'].apply(get_grade)</a:t>
            </a:r>
          </a:p>
          <a:p>
            <a:pPr algn="just">
              <a:lnSpc>
                <a:spcPts val="3554"/>
              </a:lnSpc>
            </a:pPr>
            <a:r>
              <a:rPr lang="en-US" sz="2538">
                <a:solidFill>
                  <a:srgbClr val="1B1919"/>
                </a:solidFill>
                <a:latin typeface="Poppins"/>
                <a:ea typeface="Poppins"/>
                <a:cs typeface="Poppins"/>
                <a:sym typeface="Poppins"/>
              </a:rPr>
              <a:t>df['Result'] = np.where(df['Percentage'] &gt;= 40, 'Pass', 'Fail')</a:t>
            </a:r>
          </a:p>
          <a:p>
            <a:pPr algn="just">
              <a:lnSpc>
                <a:spcPts val="3554"/>
              </a:lnSpc>
            </a:pPr>
          </a:p>
          <a:p>
            <a:pPr algn="just">
              <a:lnSpc>
                <a:spcPts val="3554"/>
              </a:lnSpc>
            </a:pPr>
            <a:r>
              <a:rPr lang="en-US" sz="2538">
                <a:solidFill>
                  <a:srgbClr val="1B1919"/>
                </a:solidFill>
                <a:latin typeface="Poppins"/>
                <a:ea typeface="Poppins"/>
                <a:cs typeface="Poppins"/>
                <a:sym typeface="Poppins"/>
              </a:rPr>
              <a:t>print("\nStudent Performance Report\n")</a:t>
            </a:r>
          </a:p>
          <a:p>
            <a:pPr algn="just">
              <a:lnSpc>
                <a:spcPts val="3554"/>
              </a:lnSpc>
            </a:pPr>
            <a:r>
              <a:rPr lang="en-US" sz="2538">
                <a:solidFill>
                  <a:srgbClr val="1B1919"/>
                </a:solidFill>
                <a:latin typeface="Poppins"/>
                <a:ea typeface="Poppins"/>
                <a:cs typeface="Poppins"/>
                <a:sym typeface="Poppins"/>
              </a:rPr>
              <a:t>print(df[['StudentID', 'Name', 'Total', 'Percentage', 'Grade', 'Result']])</a:t>
            </a:r>
          </a:p>
          <a:p>
            <a:pPr algn="just">
              <a:lnSpc>
                <a:spcPts val="3554"/>
              </a:lnSpc>
            </a:pPr>
          </a:p>
          <a:p>
            <a:pPr algn="just">
              <a:lnSpc>
                <a:spcPts val="3554"/>
              </a:lnSpc>
            </a:pPr>
            <a:r>
              <a:rPr lang="en-US" sz="2538">
                <a:solidFill>
                  <a:srgbClr val="1B1919"/>
                </a:solidFill>
                <a:latin typeface="Poppins"/>
                <a:ea typeface="Poppins"/>
                <a:cs typeface="Poppins"/>
                <a:sym typeface="Poppins"/>
              </a:rPr>
              <a:t>df.to_csv("student_report.csv", index=False)</a:t>
            </a:r>
          </a:p>
          <a:p>
            <a:pPr algn="just">
              <a:lnSpc>
                <a:spcPts val="3554"/>
              </a:lnSpc>
            </a:pPr>
            <a:r>
              <a:rPr lang="en-US" sz="2538">
                <a:solidFill>
                  <a:srgbClr val="1B1919"/>
                </a:solidFill>
                <a:latin typeface="Poppins"/>
                <a:ea typeface="Poppins"/>
                <a:cs typeface="Poppins"/>
                <a:sym typeface="Poppins"/>
              </a:rPr>
              <a:t>print("\nReport saved as 'student_report.csv'")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230600" y="-20574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869223" y="8417777"/>
            <a:ext cx="3738446" cy="3738446"/>
          </a:xfrm>
          <a:custGeom>
            <a:avLst/>
            <a:gdLst/>
            <a:ahLst/>
            <a:cxnLst/>
            <a:rect r="r" b="b" t="t" l="l"/>
            <a:pathLst>
              <a:path h="3738446" w="3738446">
                <a:moveTo>
                  <a:pt x="0" y="0"/>
                </a:moveTo>
                <a:lnTo>
                  <a:pt x="3738446" y="0"/>
                </a:lnTo>
                <a:lnTo>
                  <a:pt x="3738446" y="3738446"/>
                </a:lnTo>
                <a:lnTo>
                  <a:pt x="0" y="37384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9098584"/>
            <a:ext cx="2385506" cy="2376832"/>
          </a:xfrm>
          <a:custGeom>
            <a:avLst/>
            <a:gdLst/>
            <a:ahLst/>
            <a:cxnLst/>
            <a:rect r="r" b="b" t="t" l="l"/>
            <a:pathLst>
              <a:path h="2376832" w="2385506">
                <a:moveTo>
                  <a:pt x="0" y="0"/>
                </a:moveTo>
                <a:lnTo>
                  <a:pt x="2385506" y="0"/>
                </a:lnTo>
                <a:lnTo>
                  <a:pt x="2385506" y="2376832"/>
                </a:lnTo>
                <a:lnTo>
                  <a:pt x="0" y="23768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14873794" y="-1348132"/>
            <a:ext cx="2385506" cy="2376832"/>
          </a:xfrm>
          <a:custGeom>
            <a:avLst/>
            <a:gdLst/>
            <a:ahLst/>
            <a:cxnLst/>
            <a:rect r="r" b="b" t="t" l="l"/>
            <a:pathLst>
              <a:path h="2376832" w="2385506">
                <a:moveTo>
                  <a:pt x="0" y="2376832"/>
                </a:moveTo>
                <a:lnTo>
                  <a:pt x="2385506" y="2376832"/>
                </a:lnTo>
                <a:lnTo>
                  <a:pt x="2385506" y="0"/>
                </a:lnTo>
                <a:lnTo>
                  <a:pt x="0" y="0"/>
                </a:lnTo>
                <a:lnTo>
                  <a:pt x="0" y="23768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700000">
            <a:off x="16466659" y="8512647"/>
            <a:ext cx="1516114" cy="1491305"/>
          </a:xfrm>
          <a:custGeom>
            <a:avLst/>
            <a:gdLst/>
            <a:ahLst/>
            <a:cxnLst/>
            <a:rect r="r" b="b" t="t" l="l"/>
            <a:pathLst>
              <a:path h="1491305" w="1516114">
                <a:moveTo>
                  <a:pt x="0" y="0"/>
                </a:moveTo>
                <a:lnTo>
                  <a:pt x="1516115" y="0"/>
                </a:lnTo>
                <a:lnTo>
                  <a:pt x="1516115" y="1491306"/>
                </a:lnTo>
                <a:lnTo>
                  <a:pt x="0" y="14913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2700000">
            <a:off x="270643" y="283047"/>
            <a:ext cx="1516114" cy="1491305"/>
          </a:xfrm>
          <a:custGeom>
            <a:avLst/>
            <a:gdLst/>
            <a:ahLst/>
            <a:cxnLst/>
            <a:rect r="r" b="b" t="t" l="l"/>
            <a:pathLst>
              <a:path h="1491305" w="1516114">
                <a:moveTo>
                  <a:pt x="0" y="0"/>
                </a:moveTo>
                <a:lnTo>
                  <a:pt x="1516114" y="0"/>
                </a:lnTo>
                <a:lnTo>
                  <a:pt x="1516114" y="1491306"/>
                </a:lnTo>
                <a:lnTo>
                  <a:pt x="0" y="14913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319426" y="9951733"/>
            <a:ext cx="3879747" cy="3047365"/>
          </a:xfrm>
          <a:custGeom>
            <a:avLst/>
            <a:gdLst/>
            <a:ahLst/>
            <a:cxnLst/>
            <a:rect r="r" b="b" t="t" l="l"/>
            <a:pathLst>
              <a:path h="3047365" w="3879747">
                <a:moveTo>
                  <a:pt x="0" y="0"/>
                </a:moveTo>
                <a:lnTo>
                  <a:pt x="3879748" y="0"/>
                </a:lnTo>
                <a:lnTo>
                  <a:pt x="3879748" y="3047365"/>
                </a:lnTo>
                <a:lnTo>
                  <a:pt x="0" y="304736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0">
            <a:off x="-911174" y="-2692541"/>
            <a:ext cx="3879747" cy="3047365"/>
          </a:xfrm>
          <a:custGeom>
            <a:avLst/>
            <a:gdLst/>
            <a:ahLst/>
            <a:cxnLst/>
            <a:rect r="r" b="b" t="t" l="l"/>
            <a:pathLst>
              <a:path h="3047365" w="3879747">
                <a:moveTo>
                  <a:pt x="3879748" y="3047365"/>
                </a:moveTo>
                <a:lnTo>
                  <a:pt x="0" y="3047365"/>
                </a:lnTo>
                <a:lnTo>
                  <a:pt x="0" y="0"/>
                </a:lnTo>
                <a:lnTo>
                  <a:pt x="3879748" y="0"/>
                </a:lnTo>
                <a:lnTo>
                  <a:pt x="3879748" y="3047365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835192" y="1200181"/>
            <a:ext cx="12888084" cy="8230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b="true">
                <a:solidFill>
                  <a:srgbClr val="1B1919"/>
                </a:solidFill>
                <a:latin typeface="Poppins Bold"/>
                <a:ea typeface="Poppins Bold"/>
                <a:cs typeface="Poppins Bold"/>
                <a:sym typeface="Poppins Bold"/>
              </a:rPr>
              <a:t>Sample input:</a:t>
            </a: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1B1919"/>
                </a:solidFill>
                <a:latin typeface="Poppins"/>
                <a:ea typeface="Poppins"/>
                <a:cs typeface="Poppins"/>
                <a:sym typeface="Poppins"/>
              </a:rPr>
              <a:t>StudentID,Name,Math,Science,English,Computer</a:t>
            </a: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1B1919"/>
                </a:solidFill>
                <a:latin typeface="Poppins"/>
                <a:ea typeface="Poppins"/>
                <a:cs typeface="Poppins"/>
                <a:sym typeface="Poppins"/>
              </a:rPr>
              <a:t>101,Ravi,78,85,72,90</a:t>
            </a: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1B1919"/>
                </a:solidFill>
                <a:latin typeface="Poppins"/>
                <a:ea typeface="Poppins"/>
                <a:cs typeface="Poppins"/>
                <a:sym typeface="Poppins"/>
              </a:rPr>
              <a:t>102,Anita,88,92,81,86</a:t>
            </a: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1B1919"/>
                </a:solidFill>
                <a:latin typeface="Poppins"/>
                <a:ea typeface="Poppins"/>
                <a:cs typeface="Poppins"/>
                <a:sym typeface="Poppins"/>
              </a:rPr>
              <a:t>103,Raj,55,60,65,58</a:t>
            </a: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1B1919"/>
                </a:solidFill>
                <a:latin typeface="Poppins"/>
                <a:ea typeface="Poppins"/>
                <a:cs typeface="Poppins"/>
                <a:sym typeface="Poppins"/>
              </a:rPr>
              <a:t>104,Deepa,35,40,38,42</a:t>
            </a:r>
          </a:p>
          <a:p>
            <a:pPr algn="l">
              <a:lnSpc>
                <a:spcPts val="3640"/>
              </a:lnSpc>
            </a:pPr>
          </a:p>
          <a:p>
            <a:pPr algn="l">
              <a:lnSpc>
                <a:spcPts val="3640"/>
              </a:lnSpc>
            </a:pPr>
            <a:r>
              <a:rPr lang="en-US" sz="2600" b="true">
                <a:solidFill>
                  <a:srgbClr val="1B1919"/>
                </a:solidFill>
                <a:latin typeface="Poppins Bold"/>
                <a:ea typeface="Poppins Bold"/>
                <a:cs typeface="Poppins Bold"/>
                <a:sym typeface="Poppins Bold"/>
              </a:rPr>
              <a:t>Output:</a:t>
            </a: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1B1919"/>
                </a:solidFill>
                <a:latin typeface="Poppins"/>
                <a:ea typeface="Poppins"/>
                <a:cs typeface="Poppins"/>
                <a:sym typeface="Poppins"/>
              </a:rPr>
              <a:t>Student Performance Report</a:t>
            </a:r>
          </a:p>
          <a:p>
            <a:pPr algn="ctr">
              <a:lnSpc>
                <a:spcPts val="3640"/>
              </a:lnSpc>
            </a:pP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1B1919"/>
                </a:solidFill>
                <a:latin typeface="Poppins"/>
                <a:ea typeface="Poppins"/>
                <a:cs typeface="Poppins"/>
                <a:sym typeface="Poppins"/>
              </a:rPr>
              <a:t> StudentID   Name  Total  Percentage Grade Result</a:t>
            </a: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1B1919"/>
                </a:solidFill>
                <a:latin typeface="Poppins"/>
                <a:ea typeface="Poppins"/>
                <a:cs typeface="Poppins"/>
                <a:sym typeface="Poppins"/>
              </a:rPr>
              <a:t>0        101       Ravi       325       81.25     B   Pass</a:t>
            </a: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1B1919"/>
                </a:solidFill>
                <a:latin typeface="Poppins"/>
                <a:ea typeface="Poppins"/>
                <a:cs typeface="Poppins"/>
                <a:sym typeface="Poppins"/>
              </a:rPr>
              <a:t>1        102       Anita      347      86.75     B   Pass</a:t>
            </a: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1B1919"/>
                </a:solidFill>
                <a:latin typeface="Poppins"/>
                <a:ea typeface="Poppins"/>
                <a:cs typeface="Poppins"/>
                <a:sym typeface="Poppins"/>
              </a:rPr>
              <a:t>2        103       Raj          238      59.50     D   Pass</a:t>
            </a: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1B1919"/>
                </a:solidFill>
                <a:latin typeface="Poppins"/>
                <a:ea typeface="Poppins"/>
                <a:cs typeface="Poppins"/>
                <a:sym typeface="Poppins"/>
              </a:rPr>
              <a:t>3        104       Deepa    155     38.75     F   Fail</a:t>
            </a:r>
          </a:p>
          <a:p>
            <a:pPr algn="l">
              <a:lnSpc>
                <a:spcPts val="3640"/>
              </a:lnSpc>
            </a:pP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1B1919"/>
                </a:solidFill>
                <a:latin typeface="Poppins"/>
                <a:ea typeface="Poppins"/>
                <a:cs typeface="Poppins"/>
                <a:sym typeface="Poppins"/>
              </a:rPr>
              <a:t>Report saved as 'student_report.csv'</a:t>
            </a:r>
          </a:p>
          <a:p>
            <a:pPr algn="l">
              <a:lnSpc>
                <a:spcPts val="3640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4099565" y="3995157"/>
            <a:ext cx="646695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F5F6F7"/>
                </a:solidFill>
                <a:latin typeface="Manjari"/>
                <a:ea typeface="Manjari"/>
                <a:cs typeface="Manjari"/>
                <a:sym typeface="Manjari"/>
              </a:rPr>
              <a:t>4.9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2197205" y="1165172"/>
            <a:ext cx="532765" cy="532765"/>
          </a:xfrm>
          <a:custGeom>
            <a:avLst/>
            <a:gdLst/>
            <a:ahLst/>
            <a:cxnLst/>
            <a:rect r="r" b="b" t="t" l="l"/>
            <a:pathLst>
              <a:path h="532765" w="532765">
                <a:moveTo>
                  <a:pt x="0" y="0"/>
                </a:moveTo>
                <a:lnTo>
                  <a:pt x="532765" y="0"/>
                </a:lnTo>
                <a:lnTo>
                  <a:pt x="532765" y="532765"/>
                </a:lnTo>
                <a:lnTo>
                  <a:pt x="0" y="53276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2091983" y="4367902"/>
            <a:ext cx="532765" cy="532765"/>
          </a:xfrm>
          <a:custGeom>
            <a:avLst/>
            <a:gdLst/>
            <a:ahLst/>
            <a:cxnLst/>
            <a:rect r="r" b="b" t="t" l="l"/>
            <a:pathLst>
              <a:path h="532765" w="532765">
                <a:moveTo>
                  <a:pt x="0" y="0"/>
                </a:moveTo>
                <a:lnTo>
                  <a:pt x="532766" y="0"/>
                </a:lnTo>
                <a:lnTo>
                  <a:pt x="532766" y="532765"/>
                </a:lnTo>
                <a:lnTo>
                  <a:pt x="0" y="53276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DAG3YUNxlo0</dc:identifier>
  <dcterms:modified xsi:type="dcterms:W3CDTF">2011-08-01T06:04:30Z</dcterms:modified>
  <cp:revision>1</cp:revision>
  <dc:title>Use Case</dc:title>
</cp:coreProperties>
</file>